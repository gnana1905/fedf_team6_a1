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 roundtripDataSignature="AMtx7mjMooKWIQeCtU/bmC2VoFQRiosu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666" y="39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a35d910940_0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a35d910940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6" name="Google Shape;2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 name="Google Shape;32;p1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9" name="Google Shape;39;p1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0" name="Google Shape;40;p1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1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8"/>
          <p:cNvSpPr>
            <a:spLocks noGrp="1"/>
          </p:cNvSpPr>
          <p:nvPr>
            <p:ph type="pic" idx="2"/>
          </p:nvPr>
        </p:nvSpPr>
        <p:spPr>
          <a:xfrm>
            <a:off x="1792288" y="612775"/>
            <a:ext cx="5486400" cy="4114800"/>
          </a:xfrm>
          <a:prstGeom prst="rect">
            <a:avLst/>
          </a:prstGeom>
          <a:noFill/>
          <a:ln>
            <a:noFill/>
          </a:ln>
        </p:spPr>
      </p:sp>
      <p:sp>
        <p:nvSpPr>
          <p:cNvPr id="64" name="Google Shape;64;p1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685800" y="1847852"/>
            <a:ext cx="7772400" cy="149866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Project Review-4</a:t>
            </a:r>
            <a:endParaRPr/>
          </a:p>
          <a:p>
            <a:pPr marL="0" lvl="0" indent="0" algn="ctr" rtl="0">
              <a:spcBef>
                <a:spcPts val="0"/>
              </a:spcBef>
              <a:spcAft>
                <a:spcPts val="0"/>
              </a:spcAft>
              <a:buClr>
                <a:schemeClr val="dk1"/>
              </a:buClr>
              <a:buSzPts val="4400"/>
              <a:buFont typeface="Calibri"/>
              <a:buNone/>
            </a:pPr>
            <a:r>
              <a:rPr lang="en-US"/>
              <a:t>(Final Review)</a:t>
            </a:r>
            <a:endParaRPr/>
          </a:p>
        </p:txBody>
      </p:sp>
      <p:sp>
        <p:nvSpPr>
          <p:cNvPr id="85" name="Google Shape;85;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fontScale="77500" lnSpcReduction="20000"/>
          </a:bodyPr>
          <a:lstStyle/>
          <a:p>
            <a:pPr marL="0" lvl="0" indent="0" algn="ctr" rtl="0">
              <a:spcBef>
                <a:spcPts val="0"/>
              </a:spcBef>
              <a:spcAft>
                <a:spcPts val="0"/>
              </a:spcAft>
              <a:buClr>
                <a:srgbClr val="888888"/>
              </a:buClr>
              <a:buSzPct val="100000"/>
              <a:buNone/>
            </a:pPr>
            <a:r>
              <a:rPr lang="en-US"/>
              <a:t>Front-End Development Frameworks | Fitness Tracker with Weekly Summary | </a:t>
            </a:r>
            <a:endParaRPr/>
          </a:p>
          <a:p>
            <a:pPr marL="0" lvl="0" indent="0" algn="ctr" rtl="0">
              <a:spcBef>
                <a:spcPts val="0"/>
              </a:spcBef>
              <a:spcAft>
                <a:spcPts val="0"/>
              </a:spcAft>
              <a:buClr>
                <a:srgbClr val="888888"/>
              </a:buClr>
              <a:buSzPct val="100000"/>
              <a:buNone/>
            </a:pPr>
            <a:r>
              <a:rPr lang="en-US"/>
              <a:t>T.Hasini Sivaram, P.Rahini Sai, N.Suvidha Sree | 2410030193, 2410030347,2410030145 | </a:t>
            </a:r>
            <a:endParaRPr/>
          </a:p>
          <a:p>
            <a:pPr marL="0" lvl="0" indent="0" algn="ctr" rtl="0">
              <a:spcBef>
                <a:spcPts val="0"/>
              </a:spcBef>
              <a:spcAft>
                <a:spcPts val="0"/>
              </a:spcAft>
              <a:buClr>
                <a:srgbClr val="888888"/>
              </a:buClr>
              <a:buSzPct val="100000"/>
              <a:buNone/>
            </a:pPr>
            <a:r>
              <a:rPr lang="en-US"/>
              <a:t>Ms.P. Sree Lakshmi </a:t>
            </a:r>
            <a:r>
              <a:rPr lang="en-US">
                <a:solidFill>
                  <a:srgbClr val="888888"/>
                </a:solidFill>
              </a:rPr>
              <a:t>| </a:t>
            </a:r>
            <a:r>
              <a:rPr lang="en-US"/>
              <a:t>CSE</a:t>
            </a:r>
            <a:endParaRPr/>
          </a:p>
        </p:txBody>
      </p:sp>
      <p:pic>
        <p:nvPicPr>
          <p:cNvPr id="86" name="Google Shape;86;p1"/>
          <p:cNvPicPr preferRelativeResize="0"/>
          <p:nvPr/>
        </p:nvPicPr>
        <p:blipFill rotWithShape="1">
          <a:blip r:embed="rId3">
            <a:alphaModFix/>
          </a:blip>
          <a:srcRect/>
          <a:stretch/>
        </p:blipFill>
        <p:spPr>
          <a:xfrm>
            <a:off x="3148554" y="5566734"/>
            <a:ext cx="3883842" cy="119575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7"/>
          <p:cNvSpPr txBox="1">
            <a:spLocks noGrp="1"/>
          </p:cNvSpPr>
          <p:nvPr>
            <p:ph type="title"/>
          </p:nvPr>
        </p:nvSpPr>
        <p:spPr>
          <a:xfrm>
            <a:off x="457200" y="-263937"/>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Introduction</a:t>
            </a:r>
            <a:endParaRPr dirty="0"/>
          </a:p>
        </p:txBody>
      </p:sp>
      <p:sp>
        <p:nvSpPr>
          <p:cNvPr id="92" name="Google Shape;92;p7"/>
          <p:cNvSpPr txBox="1">
            <a:spLocks noGrp="1"/>
          </p:cNvSpPr>
          <p:nvPr>
            <p:ph type="body" idx="1"/>
          </p:nvPr>
        </p:nvSpPr>
        <p:spPr>
          <a:xfrm>
            <a:off x="457200" y="536175"/>
            <a:ext cx="8458200" cy="5627558"/>
          </a:xfrm>
          <a:prstGeom prst="rect">
            <a:avLst/>
          </a:prstGeom>
          <a:noFill/>
          <a:ln>
            <a:noFill/>
          </a:ln>
        </p:spPr>
        <p:txBody>
          <a:bodyPr spcFirstLastPara="1" wrap="square" lIns="91425" tIns="45700" rIns="91425" bIns="45700" anchor="t" anchorCtr="0">
            <a:normAutofit fontScale="25000" lnSpcReduction="20000"/>
          </a:bodyPr>
          <a:lstStyle/>
          <a:p>
            <a:pPr marL="0" lvl="0" indent="0" algn="l" rtl="0">
              <a:lnSpc>
                <a:spcPct val="115000"/>
              </a:lnSpc>
              <a:spcBef>
                <a:spcPts val="1400"/>
              </a:spcBef>
              <a:spcAft>
                <a:spcPts val="0"/>
              </a:spcAft>
              <a:buClr>
                <a:schemeClr val="dk1"/>
              </a:buClr>
              <a:buSzPts val="275"/>
              <a:buFont typeface="Arial"/>
              <a:buNone/>
            </a:pPr>
            <a:r>
              <a:rPr lang="en-US" sz="7600" b="1" dirty="0">
                <a:latin typeface="Arial"/>
                <a:ea typeface="Arial"/>
                <a:cs typeface="Arial"/>
                <a:sym typeface="Arial"/>
              </a:rPr>
              <a:t>Problem Statement</a:t>
            </a:r>
            <a:endParaRPr sz="7600" b="1" dirty="0">
              <a:latin typeface="Arial"/>
              <a:ea typeface="Arial"/>
              <a:cs typeface="Arial"/>
              <a:sym typeface="Arial"/>
            </a:endParaRPr>
          </a:p>
          <a:p>
            <a:pPr marL="120650" indent="0">
              <a:lnSpc>
                <a:spcPct val="115000"/>
              </a:lnSpc>
              <a:spcBef>
                <a:spcPts val="1200"/>
              </a:spcBef>
              <a:buSzPct val="100000"/>
              <a:buNone/>
            </a:pPr>
            <a:r>
              <a:rPr lang="en-US" sz="7200" dirty="0"/>
              <a:t>Users find it difficult to visually organize and track events, deadlines, and schedules using existing timeline and calendar tools. Current platforms are either static, lack interactivity, or do not support custom event triggers, reminders, and hybrid timeline–calendar views. No single solution provides an easy, responsive, and dynamic way to manage time-based activities effectively.</a:t>
            </a:r>
          </a:p>
          <a:p>
            <a:pPr marL="120650" lvl="0" indent="0" algn="l" rtl="0">
              <a:lnSpc>
                <a:spcPct val="115000"/>
              </a:lnSpc>
              <a:spcBef>
                <a:spcPts val="1200"/>
              </a:spcBef>
              <a:spcAft>
                <a:spcPts val="0"/>
              </a:spcAft>
              <a:buSzPct val="100000"/>
              <a:buNone/>
            </a:pPr>
            <a:endParaRPr sz="6800" dirty="0">
              <a:latin typeface="Arial"/>
              <a:ea typeface="Arial"/>
              <a:cs typeface="Arial"/>
              <a:sym typeface="Arial"/>
            </a:endParaRPr>
          </a:p>
          <a:p>
            <a:pPr marL="0" lvl="0" indent="0" algn="l" rtl="0">
              <a:lnSpc>
                <a:spcPct val="115000"/>
              </a:lnSpc>
              <a:spcBef>
                <a:spcPts val="1400"/>
              </a:spcBef>
              <a:spcAft>
                <a:spcPts val="0"/>
              </a:spcAft>
              <a:buNone/>
            </a:pPr>
            <a:r>
              <a:rPr lang="en-US" sz="7600" b="1" dirty="0">
                <a:latin typeface="Arial"/>
                <a:ea typeface="Arial"/>
                <a:cs typeface="Arial"/>
                <a:sym typeface="Arial"/>
              </a:rPr>
              <a:t>Proposed Solution</a:t>
            </a:r>
            <a:endParaRPr sz="7600" b="1" dirty="0">
              <a:latin typeface="Arial"/>
              <a:ea typeface="Arial"/>
              <a:cs typeface="Arial"/>
              <a:sym typeface="Arial"/>
            </a:endParaRPr>
          </a:p>
          <a:p>
            <a:pPr marL="120650" lvl="0" indent="0">
              <a:lnSpc>
                <a:spcPct val="115000"/>
              </a:lnSpc>
              <a:spcBef>
                <a:spcPts val="1200"/>
              </a:spcBef>
              <a:buSzPct val="100000"/>
              <a:buNone/>
            </a:pPr>
            <a:r>
              <a:rPr lang="en-US" sz="7200" dirty="0" err="1"/>
              <a:t>ChronoFlow</a:t>
            </a:r>
            <a:r>
              <a:rPr lang="en-US" sz="7200" dirty="0"/>
              <a:t> is a web-based interactive timeline system that allows users to create, manage, and visualize events with custom triggers such as reminders, color changes, and animations. It combines timeline flow with a calendar layout, supports event categorization, and delivers a responsive, user-friendly interface across all devices. The platform offers a simple yet powerful way to plan, track, and interact with time-based data.</a:t>
            </a:r>
            <a:endParaRPr lang="en-US" sz="6800" dirty="0">
              <a:latin typeface="Arial"/>
              <a:ea typeface="Arial"/>
              <a:cs typeface="Arial"/>
              <a:sym typeface="Arial"/>
            </a:endParaRPr>
          </a:p>
          <a:p>
            <a:pPr marL="342900" lvl="0" indent="0">
              <a:spcBef>
                <a:spcPts val="1200"/>
              </a:spcBef>
              <a:buNone/>
            </a:pPr>
            <a:r>
              <a:rPr lang="en-IN" sz="7200" dirty="0"/>
              <a:t>Developed using</a:t>
            </a:r>
            <a:br>
              <a:rPr lang="en-IN" sz="7200" dirty="0"/>
            </a:br>
            <a:r>
              <a:rPr lang="en-IN" sz="7200" b="1" dirty="0"/>
              <a:t>HTML5, CSS3, JavaScript, Flask (Python), MongoDB</a:t>
            </a:r>
            <a:r>
              <a:rPr lang="en-IN" sz="7200" dirty="0"/>
              <a:t>, and modern UI enhancements</a:t>
            </a:r>
            <a:endParaRPr sz="7200" dirty="0"/>
          </a:p>
        </p:txBody>
      </p:sp>
      <p:pic>
        <p:nvPicPr>
          <p:cNvPr id="93" name="Google Shape;93;p7"/>
          <p:cNvPicPr preferRelativeResize="0"/>
          <p:nvPr/>
        </p:nvPicPr>
        <p:blipFill rotWithShape="1">
          <a:blip r:embed="rId3">
            <a:alphaModFix/>
          </a:blip>
          <a:srcRect/>
          <a:stretch/>
        </p:blipFill>
        <p:spPr>
          <a:xfrm>
            <a:off x="7134400" y="6005425"/>
            <a:ext cx="2009600" cy="852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457200" y="-12"/>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Accuracy of results</a:t>
            </a:r>
            <a:endParaRPr/>
          </a:p>
        </p:txBody>
      </p:sp>
      <p:sp>
        <p:nvSpPr>
          <p:cNvPr id="99" name="Google Shape;99;p2"/>
          <p:cNvSpPr txBox="1">
            <a:spLocks noGrp="1"/>
          </p:cNvSpPr>
          <p:nvPr>
            <p:ph type="body" idx="1"/>
          </p:nvPr>
        </p:nvSpPr>
        <p:spPr>
          <a:xfrm>
            <a:off x="373525" y="952500"/>
            <a:ext cx="8313300" cy="4606500"/>
          </a:xfrm>
          <a:prstGeom prst="rect">
            <a:avLst/>
          </a:prstGeom>
          <a:noFill/>
          <a:ln>
            <a:noFill/>
          </a:ln>
        </p:spPr>
        <p:txBody>
          <a:bodyPr spcFirstLastPara="1" wrap="square" lIns="91425" tIns="45700" rIns="91425" bIns="45700" anchor="t" anchorCtr="0">
            <a:noAutofit/>
          </a:bodyPr>
          <a:lstStyle/>
          <a:p>
            <a:pPr marL="342900" lvl="0" indent="0">
              <a:spcBef>
                <a:spcPts val="280"/>
              </a:spcBef>
              <a:buNone/>
            </a:pPr>
            <a:r>
              <a:rPr lang="en-US" sz="1800" b="1" dirty="0"/>
              <a:t>Accurate Event Handling</a:t>
            </a:r>
            <a:r>
              <a:rPr lang="en-US" sz="1800" dirty="0"/>
              <a:t> – Events are saved, updated, and displayed correctly in real time.</a:t>
            </a:r>
            <a:br>
              <a:rPr lang="en-US" sz="1800" dirty="0"/>
            </a:br>
            <a:r>
              <a:rPr lang="en-US" sz="1800" dirty="0"/>
              <a:t>✔ </a:t>
            </a:r>
            <a:r>
              <a:rPr lang="en-US" sz="1800" b="1" dirty="0"/>
              <a:t>Smooth Data Retrieval</a:t>
            </a:r>
            <a:r>
              <a:rPr lang="en-US" sz="1800" dirty="0"/>
              <a:t> – MongoDB fetches event data quickly without errors.</a:t>
            </a:r>
            <a:br>
              <a:rPr lang="en-US" sz="1800" dirty="0"/>
            </a:br>
            <a:r>
              <a:rPr lang="en-US" sz="1800" dirty="0"/>
              <a:t>✔ </a:t>
            </a:r>
            <a:r>
              <a:rPr lang="en-US" sz="1800" b="1" dirty="0"/>
              <a:t>Responsive UI</a:t>
            </a:r>
            <a:r>
              <a:rPr lang="en-US" sz="1800" dirty="0"/>
              <a:t> – Timeline animations, scrolling, and theme switching work smoothly on all devices.</a:t>
            </a:r>
            <a:br>
              <a:rPr lang="en-US" sz="1800" dirty="0"/>
            </a:br>
            <a:r>
              <a:rPr lang="en-US" sz="1800" dirty="0"/>
              <a:t>✔ </a:t>
            </a:r>
            <a:r>
              <a:rPr lang="en-US" sz="1800" b="1" dirty="0"/>
              <a:t>Reliable Triggers</a:t>
            </a:r>
            <a:r>
              <a:rPr lang="en-US" sz="1800" dirty="0"/>
              <a:t> – Reminders, color changes, and animations activate correctly when events occur.</a:t>
            </a:r>
          </a:p>
          <a:p>
            <a:pPr marL="342900" lvl="0" indent="0">
              <a:spcBef>
                <a:spcPts val="280"/>
              </a:spcBef>
              <a:buNone/>
            </a:pPr>
            <a:r>
              <a:rPr lang="en-IN" sz="1800" dirty="0"/>
              <a:t>✔ </a:t>
            </a:r>
            <a:r>
              <a:rPr lang="en-IN" sz="1800" b="1" dirty="0"/>
              <a:t>Stable Authentication</a:t>
            </a:r>
            <a:r>
              <a:rPr lang="en-IN" sz="1800" dirty="0"/>
              <a:t> – Signup and login work consistently with valid user credentials.</a:t>
            </a:r>
            <a:br>
              <a:rPr lang="en-IN" sz="1800" dirty="0"/>
            </a:br>
            <a:r>
              <a:rPr lang="en-IN" sz="1800" dirty="0"/>
              <a:t>✔ </a:t>
            </a:r>
            <a:r>
              <a:rPr lang="en-IN" sz="1800" b="1" dirty="0"/>
              <a:t>No UI Breakages</a:t>
            </a:r>
            <a:r>
              <a:rPr lang="en-IN" sz="1800" dirty="0"/>
              <a:t> – Layout adjusts cleanly across mobile, tablet, and desktop without overlapping elements.</a:t>
            </a:r>
            <a:br>
              <a:rPr lang="en-IN" sz="1800" dirty="0"/>
            </a:br>
            <a:r>
              <a:rPr lang="en-IN" sz="1800" dirty="0"/>
              <a:t>✔ </a:t>
            </a:r>
            <a:r>
              <a:rPr lang="en-IN" sz="1800" b="1" dirty="0"/>
              <a:t>Fast Loading</a:t>
            </a:r>
            <a:r>
              <a:rPr lang="en-IN" sz="1800" dirty="0"/>
              <a:t> – Timeline and dashboard load in under a second for normal event data.</a:t>
            </a:r>
            <a:endParaRPr sz="1800" dirty="0">
              <a:latin typeface="Arial"/>
              <a:ea typeface="Arial"/>
              <a:cs typeface="Arial"/>
              <a:sym typeface="Arial"/>
            </a:endParaRPr>
          </a:p>
        </p:txBody>
      </p:sp>
      <p:pic>
        <p:nvPicPr>
          <p:cNvPr id="100" name="Google Shape;100;p2"/>
          <p:cNvPicPr preferRelativeResize="0"/>
          <p:nvPr/>
        </p:nvPicPr>
        <p:blipFill rotWithShape="1">
          <a:blip r:embed="rId3">
            <a:alphaModFix/>
          </a:blip>
          <a:srcRect/>
          <a:stretch/>
        </p:blipFill>
        <p:spPr>
          <a:xfrm>
            <a:off x="5508606" y="5559001"/>
            <a:ext cx="3635393" cy="1299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title"/>
          </p:nvPr>
        </p:nvSpPr>
        <p:spPr>
          <a:xfrm>
            <a:off x="457200" y="-12"/>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Technical Competence</a:t>
            </a:r>
            <a:endParaRPr/>
          </a:p>
        </p:txBody>
      </p:sp>
      <p:sp>
        <p:nvSpPr>
          <p:cNvPr id="106" name="Google Shape;106;p3"/>
          <p:cNvSpPr txBox="1">
            <a:spLocks noGrp="1"/>
          </p:cNvSpPr>
          <p:nvPr>
            <p:ph type="body" idx="1"/>
          </p:nvPr>
        </p:nvSpPr>
        <p:spPr>
          <a:xfrm>
            <a:off x="287866" y="1018997"/>
            <a:ext cx="8229600" cy="4526100"/>
          </a:xfrm>
          <a:prstGeom prst="rect">
            <a:avLst/>
          </a:prstGeom>
          <a:noFill/>
          <a:ln>
            <a:noFill/>
          </a:ln>
        </p:spPr>
        <p:txBody>
          <a:bodyPr spcFirstLastPara="1" wrap="square" lIns="91425" tIns="45700" rIns="91425" bIns="45700" anchor="t" anchorCtr="0">
            <a:noAutofit/>
          </a:bodyPr>
          <a:lstStyle/>
          <a:p>
            <a:r>
              <a:rPr lang="en-IN" sz="1700" dirty="0"/>
              <a:t>✔ </a:t>
            </a:r>
            <a:r>
              <a:rPr lang="en-IN" sz="1700" b="1" dirty="0"/>
              <a:t>Modern Front-End Stack</a:t>
            </a:r>
            <a:br>
              <a:rPr lang="en-IN" sz="1700" dirty="0"/>
            </a:br>
            <a:r>
              <a:rPr lang="en-IN" sz="1700" dirty="0"/>
              <a:t>HTML5, CSS3, and JavaScript used to build a fast, responsive, and interactive timeline UI.</a:t>
            </a:r>
          </a:p>
          <a:p>
            <a:r>
              <a:rPr lang="en-IN" sz="1700" dirty="0"/>
              <a:t>✔ </a:t>
            </a:r>
            <a:r>
              <a:rPr lang="en-IN" sz="1700" b="1" dirty="0"/>
              <a:t>Clean UI &amp; Animations</a:t>
            </a:r>
            <a:br>
              <a:rPr lang="en-IN" sz="1700" dirty="0"/>
            </a:br>
            <a:r>
              <a:rPr lang="en-IN" sz="1700" dirty="0"/>
              <a:t>Custom CSS transitions, modal components, theme switching, and event animations enhance user experience.</a:t>
            </a:r>
          </a:p>
          <a:p>
            <a:r>
              <a:rPr lang="en-IN" sz="1700" dirty="0"/>
              <a:t>✔ </a:t>
            </a:r>
            <a:r>
              <a:rPr lang="en-IN" sz="1700" b="1" dirty="0"/>
              <a:t>Robust Back-End</a:t>
            </a:r>
            <a:br>
              <a:rPr lang="en-IN" sz="1700" dirty="0"/>
            </a:br>
            <a:r>
              <a:rPr lang="en-IN" sz="1700" dirty="0"/>
              <a:t>Flask (Python) handles secure API communication for login, signup, and event management.</a:t>
            </a:r>
          </a:p>
          <a:p>
            <a:r>
              <a:rPr lang="en-IN" sz="1700" dirty="0"/>
              <a:t>✔ </a:t>
            </a:r>
            <a:r>
              <a:rPr lang="en-IN" sz="1700" b="1" dirty="0"/>
              <a:t>Real-Time Functionality</a:t>
            </a:r>
            <a:br>
              <a:rPr lang="en-IN" sz="1700" dirty="0"/>
            </a:br>
            <a:r>
              <a:rPr lang="en-IN" sz="1700" dirty="0"/>
              <a:t>Dynamic event rendering, instant timeline updates, and smooth data fetch using Fetch API.</a:t>
            </a:r>
          </a:p>
          <a:p>
            <a:r>
              <a:rPr lang="en-IN" sz="1700" dirty="0"/>
              <a:t>✔ </a:t>
            </a:r>
            <a:r>
              <a:rPr lang="en-IN" sz="1700" b="1" dirty="0"/>
              <a:t>Responsive Design</a:t>
            </a:r>
            <a:br>
              <a:rPr lang="en-IN" sz="1700" dirty="0"/>
            </a:br>
            <a:r>
              <a:rPr lang="en-IN" sz="1700" dirty="0"/>
              <a:t>Timeline and dashboard layouts adapt perfectly across mobile, tablet, and desktop screens.</a:t>
            </a:r>
          </a:p>
          <a:p>
            <a:r>
              <a:rPr lang="en-IN" sz="1700" dirty="0"/>
              <a:t>✔ </a:t>
            </a:r>
            <a:r>
              <a:rPr lang="en-IN" sz="1700" b="1" dirty="0"/>
              <a:t>Secure Authentication</a:t>
            </a:r>
            <a:br>
              <a:rPr lang="en-IN" sz="1700" dirty="0"/>
            </a:br>
            <a:r>
              <a:rPr lang="en-IN" sz="1700" dirty="0"/>
              <a:t>User credentials verified with backend validation and protected database access.</a:t>
            </a:r>
          </a:p>
          <a:p>
            <a:pPr marL="0" lvl="0" indent="0" algn="l" rtl="0">
              <a:spcBef>
                <a:spcPts val="1200"/>
              </a:spcBef>
              <a:spcAft>
                <a:spcPts val="0"/>
              </a:spcAft>
              <a:buClr>
                <a:schemeClr val="dk1"/>
              </a:buClr>
              <a:buSzPct val="77777"/>
              <a:buNone/>
            </a:pPr>
            <a:endParaRPr sz="1700" b="1" dirty="0">
              <a:latin typeface="Arial"/>
              <a:ea typeface="Arial"/>
              <a:cs typeface="Arial"/>
              <a:sym typeface="Arial"/>
            </a:endParaRPr>
          </a:p>
        </p:txBody>
      </p:sp>
      <p:pic>
        <p:nvPicPr>
          <p:cNvPr id="107" name="Google Shape;107;p3"/>
          <p:cNvPicPr preferRelativeResize="0"/>
          <p:nvPr/>
        </p:nvPicPr>
        <p:blipFill rotWithShape="1">
          <a:blip r:embed="rId3">
            <a:alphaModFix/>
          </a:blip>
          <a:srcRect/>
          <a:stretch/>
        </p:blipFill>
        <p:spPr>
          <a:xfrm>
            <a:off x="7081508" y="5839003"/>
            <a:ext cx="2062492" cy="965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457200" y="-171212"/>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Innovative &amp; Suitable Features</a:t>
            </a:r>
            <a:endParaRPr dirty="0"/>
          </a:p>
        </p:txBody>
      </p:sp>
      <p:pic>
        <p:nvPicPr>
          <p:cNvPr id="113" name="Google Shape;113;p4"/>
          <p:cNvPicPr preferRelativeResize="0"/>
          <p:nvPr/>
        </p:nvPicPr>
        <p:blipFill rotWithShape="1">
          <a:blip r:embed="rId3">
            <a:alphaModFix/>
          </a:blip>
          <a:srcRect/>
          <a:stretch/>
        </p:blipFill>
        <p:spPr>
          <a:xfrm>
            <a:off x="6325398" y="5662234"/>
            <a:ext cx="2818614" cy="1195754"/>
          </a:xfrm>
          <a:prstGeom prst="rect">
            <a:avLst/>
          </a:prstGeom>
          <a:noFill/>
          <a:ln>
            <a:noFill/>
          </a:ln>
        </p:spPr>
      </p:pic>
      <p:sp>
        <p:nvSpPr>
          <p:cNvPr id="114" name="Google Shape;114;p4"/>
          <p:cNvSpPr txBox="1"/>
          <p:nvPr/>
        </p:nvSpPr>
        <p:spPr>
          <a:xfrm>
            <a:off x="261900" y="826700"/>
            <a:ext cx="8229600" cy="5086200"/>
          </a:xfrm>
          <a:prstGeom prst="rect">
            <a:avLst/>
          </a:prstGeom>
          <a:noFill/>
          <a:ln>
            <a:noFill/>
          </a:ln>
        </p:spPr>
        <p:txBody>
          <a:bodyPr spcFirstLastPara="1" wrap="square" lIns="91425" tIns="91425" rIns="91425" bIns="91425" anchor="t" anchorCtr="0">
            <a:noAutofit/>
          </a:bodyPr>
          <a:lstStyle/>
          <a:p>
            <a:r>
              <a:rPr lang="en-US" sz="1800" dirty="0"/>
              <a:t>✔ </a:t>
            </a:r>
            <a:r>
              <a:rPr lang="en-US" sz="1800" b="1" dirty="0"/>
              <a:t>Interactive Timeline System</a:t>
            </a:r>
            <a:br>
              <a:rPr lang="en-US" sz="1800" dirty="0"/>
            </a:br>
            <a:r>
              <a:rPr lang="en-US" sz="1800" dirty="0"/>
              <a:t>Visually engaging event flow with animations, color cues, and custom triggers.</a:t>
            </a:r>
          </a:p>
          <a:p>
            <a:r>
              <a:rPr lang="en-US" sz="1800" dirty="0"/>
              <a:t>✔ </a:t>
            </a:r>
            <a:r>
              <a:rPr lang="en-US" sz="1800" b="1" dirty="0"/>
              <a:t>Hybrid Timeline + Calendar View</a:t>
            </a:r>
            <a:br>
              <a:rPr lang="en-US" sz="1800" dirty="0"/>
            </a:br>
            <a:r>
              <a:rPr lang="en-US" sz="1800" dirty="0"/>
              <a:t>Combines visual chronological layout with structured calendar scheduling.</a:t>
            </a:r>
          </a:p>
          <a:p>
            <a:r>
              <a:rPr lang="en-US" sz="1800" dirty="0"/>
              <a:t>✔ </a:t>
            </a:r>
            <a:r>
              <a:rPr lang="en-US" sz="1800" b="1" dirty="0"/>
              <a:t>Smart Event Management</a:t>
            </a:r>
            <a:br>
              <a:rPr lang="en-US" sz="1800" dirty="0"/>
            </a:br>
            <a:r>
              <a:rPr lang="en-US" sz="1800" dirty="0"/>
              <a:t>Easy creation, editing, deletion, and categorization of events for better organization.</a:t>
            </a:r>
          </a:p>
          <a:p>
            <a:r>
              <a:rPr lang="en-US" sz="1800" dirty="0"/>
              <a:t>✔ </a:t>
            </a:r>
            <a:r>
              <a:rPr lang="en-US" sz="1800" b="1" dirty="0"/>
              <a:t>Personalized UI Experience</a:t>
            </a:r>
            <a:br>
              <a:rPr lang="en-US" sz="1800" dirty="0"/>
            </a:br>
            <a:r>
              <a:rPr lang="en-US" sz="1800" dirty="0"/>
              <a:t>Theme switching, category filters, and clean layouts tailored to user preferences.</a:t>
            </a:r>
          </a:p>
          <a:p>
            <a:r>
              <a:rPr lang="en-US" sz="1800" dirty="0"/>
              <a:t>✔ </a:t>
            </a:r>
            <a:r>
              <a:rPr lang="en-US" sz="1800" b="1" dirty="0"/>
              <a:t>Real-Time Updates</a:t>
            </a:r>
            <a:br>
              <a:rPr lang="en-US" sz="1800" dirty="0"/>
            </a:br>
            <a:r>
              <a:rPr lang="en-US" sz="1800" dirty="0"/>
              <a:t>Events appear instantly with smooth transitions and live data retrieval from MongoDB.</a:t>
            </a:r>
          </a:p>
          <a:p>
            <a:r>
              <a:rPr lang="en-US" sz="1800" dirty="0"/>
              <a:t>✔ </a:t>
            </a:r>
            <a:r>
              <a:rPr lang="en-US" sz="1800" b="1" dirty="0"/>
              <a:t>All-in-One Organization Tool</a:t>
            </a:r>
            <a:br>
              <a:rPr lang="en-US" sz="1800" dirty="0"/>
            </a:br>
            <a:r>
              <a:rPr lang="en-US" sz="1800" dirty="0"/>
              <a:t>Replaces multiple timeline and reminder apps by offering visualization, reminders, triggers, and filtering in one platform.</a:t>
            </a:r>
          </a:p>
          <a:p>
            <a:pPr marL="0" lvl="0" indent="0" algn="l" rtl="0">
              <a:spcBef>
                <a:spcPts val="120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457200" y="101463"/>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Utility to Society</a:t>
            </a:r>
            <a:endParaRPr/>
          </a:p>
        </p:txBody>
      </p:sp>
      <p:sp>
        <p:nvSpPr>
          <p:cNvPr id="120" name="Google Shape;120;p5"/>
          <p:cNvSpPr txBox="1">
            <a:spLocks noGrp="1"/>
          </p:cNvSpPr>
          <p:nvPr>
            <p:ph type="body" idx="1"/>
          </p:nvPr>
        </p:nvSpPr>
        <p:spPr>
          <a:xfrm>
            <a:off x="161750" y="952500"/>
            <a:ext cx="8860200" cy="5139900"/>
          </a:xfrm>
          <a:prstGeom prst="rect">
            <a:avLst/>
          </a:prstGeom>
          <a:noFill/>
          <a:ln>
            <a:noFill/>
          </a:ln>
        </p:spPr>
        <p:txBody>
          <a:bodyPr spcFirstLastPara="1" wrap="square" lIns="91425" tIns="45700" rIns="91425" bIns="45700" anchor="t" anchorCtr="0">
            <a:normAutofit/>
          </a:bodyPr>
          <a:lstStyle/>
          <a:p>
            <a:r>
              <a:rPr lang="en-US" sz="1800" dirty="0"/>
              <a:t>✔ </a:t>
            </a:r>
            <a:r>
              <a:rPr lang="en-US" sz="1800" b="1" dirty="0"/>
              <a:t>Improves Time Management Skills</a:t>
            </a:r>
            <a:br>
              <a:rPr lang="en-US" sz="1800" dirty="0"/>
            </a:br>
            <a:r>
              <a:rPr lang="en-US" sz="1800" dirty="0"/>
              <a:t>Helps users visually organize tasks, deadlines, and events, enabling better planning and productivity.</a:t>
            </a:r>
          </a:p>
          <a:p>
            <a:r>
              <a:rPr lang="en-US" sz="1800" dirty="0"/>
              <a:t>✔ </a:t>
            </a:r>
            <a:r>
              <a:rPr lang="en-US" sz="1800" b="1" dirty="0"/>
              <a:t>Accessible to Everyone</a:t>
            </a:r>
            <a:br>
              <a:rPr lang="en-US" sz="1800" dirty="0"/>
            </a:br>
            <a:r>
              <a:rPr lang="en-US" sz="1800" dirty="0"/>
              <a:t>Works on any device without restrictions—no platform lock-in, no premium-only limitations, fully web-based.</a:t>
            </a:r>
          </a:p>
          <a:p>
            <a:r>
              <a:rPr lang="en-US" sz="1800" dirty="0"/>
              <a:t>✔ </a:t>
            </a:r>
            <a:r>
              <a:rPr lang="en-US" sz="1800" b="1" dirty="0"/>
              <a:t>Enhances Awareness &amp; Discipline</a:t>
            </a:r>
            <a:br>
              <a:rPr lang="en-US" sz="1800" dirty="0"/>
            </a:br>
            <a:r>
              <a:rPr lang="en-US" sz="1800" dirty="0"/>
              <a:t>Encourages users to stay consistent with schedules by providing reminders, visual cues, and interactive triggers.</a:t>
            </a:r>
          </a:p>
          <a:p>
            <a:r>
              <a:rPr lang="en-US" sz="1800" dirty="0"/>
              <a:t>✔ </a:t>
            </a:r>
            <a:r>
              <a:rPr lang="en-US" sz="1800" b="1" dirty="0"/>
              <a:t>Useful for Students, Professionals &amp; Educators</a:t>
            </a:r>
            <a:br>
              <a:rPr lang="en-US" sz="1800" dirty="0"/>
            </a:br>
            <a:r>
              <a:rPr lang="en-US" sz="1800" dirty="0"/>
              <a:t>Supports academic planning, project timelines, meeting schedules, and personal life management—all in one simple tool.</a:t>
            </a:r>
          </a:p>
          <a:p>
            <a:r>
              <a:rPr lang="en-US" sz="1800" dirty="0"/>
              <a:t>✔ </a:t>
            </a:r>
            <a:r>
              <a:rPr lang="en-US" sz="1800" b="1" dirty="0"/>
              <a:t>Supports Better Organization Habits</a:t>
            </a:r>
            <a:br>
              <a:rPr lang="en-US" sz="1800" dirty="0"/>
            </a:br>
            <a:r>
              <a:rPr lang="en-US" sz="1800" dirty="0"/>
              <a:t>Reduces confusion and missed deadlines by offering a clear, interactive, and intuitive timeline view.</a:t>
            </a:r>
          </a:p>
          <a:p>
            <a:pPr marL="0" lvl="0" indent="0" algn="l" rtl="0">
              <a:spcBef>
                <a:spcPts val="1200"/>
              </a:spcBef>
              <a:spcAft>
                <a:spcPts val="0"/>
              </a:spcAft>
              <a:buNone/>
            </a:pPr>
            <a:endParaRPr sz="1800" dirty="0">
              <a:latin typeface="Arial"/>
              <a:ea typeface="Arial"/>
              <a:cs typeface="Arial"/>
              <a:sym typeface="Arial"/>
            </a:endParaRPr>
          </a:p>
        </p:txBody>
      </p:sp>
      <p:pic>
        <p:nvPicPr>
          <p:cNvPr id="121" name="Google Shape;121;p5"/>
          <p:cNvPicPr preferRelativeResize="0"/>
          <p:nvPr/>
        </p:nvPicPr>
        <p:blipFill rotWithShape="1">
          <a:blip r:embed="rId3">
            <a:alphaModFix/>
          </a:blip>
          <a:srcRect/>
          <a:stretch/>
        </p:blipFill>
        <p:spPr>
          <a:xfrm>
            <a:off x="6739375" y="5867750"/>
            <a:ext cx="2404625" cy="1020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026" name="Picture 2">
            <a:extLst>
              <a:ext uri="{FF2B5EF4-FFF2-40B4-BE49-F238E27FC236}">
                <a16:creationId xmlns:a16="http://schemas.microsoft.com/office/drawing/2014/main" id="{C45A8743-5D6E-5897-EA34-DAD13D6EF3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223" y="198120"/>
            <a:ext cx="8801417" cy="26263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0BC3E11-D9AD-FEF2-4E35-D544F06866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222" y="3429000"/>
            <a:ext cx="8801417" cy="26263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3" name="Picture 2">
            <a:extLst>
              <a:ext uri="{FF2B5EF4-FFF2-40B4-BE49-F238E27FC236}">
                <a16:creationId xmlns:a16="http://schemas.microsoft.com/office/drawing/2014/main" id="{E6A03CCE-6D3E-F021-4AC0-03F5F2BDA93D}"/>
              </a:ext>
            </a:extLst>
          </p:cNvPr>
          <p:cNvPicPr>
            <a:picLocks noChangeAspect="1"/>
          </p:cNvPicPr>
          <p:nvPr/>
        </p:nvPicPr>
        <p:blipFill>
          <a:blip r:embed="rId3"/>
          <a:stretch>
            <a:fillRect/>
          </a:stretch>
        </p:blipFill>
        <p:spPr>
          <a:xfrm>
            <a:off x="91440" y="76121"/>
            <a:ext cx="4351880" cy="3154759"/>
          </a:xfrm>
          <a:prstGeom prst="rect">
            <a:avLst/>
          </a:prstGeom>
        </p:spPr>
      </p:pic>
      <p:pic>
        <p:nvPicPr>
          <p:cNvPr id="5" name="Picture 4">
            <a:extLst>
              <a:ext uri="{FF2B5EF4-FFF2-40B4-BE49-F238E27FC236}">
                <a16:creationId xmlns:a16="http://schemas.microsoft.com/office/drawing/2014/main" id="{DB312707-A9DE-F947-89E9-AF299701F5E8}"/>
              </a:ext>
            </a:extLst>
          </p:cNvPr>
          <p:cNvPicPr>
            <a:picLocks noChangeAspect="1"/>
          </p:cNvPicPr>
          <p:nvPr/>
        </p:nvPicPr>
        <p:blipFill>
          <a:blip r:embed="rId4"/>
          <a:stretch>
            <a:fillRect/>
          </a:stretch>
        </p:blipFill>
        <p:spPr>
          <a:xfrm>
            <a:off x="4700680" y="76121"/>
            <a:ext cx="4351880" cy="3154759"/>
          </a:xfrm>
          <a:prstGeom prst="rect">
            <a:avLst/>
          </a:prstGeom>
        </p:spPr>
      </p:pic>
      <p:pic>
        <p:nvPicPr>
          <p:cNvPr id="7" name="Picture 6">
            <a:extLst>
              <a:ext uri="{FF2B5EF4-FFF2-40B4-BE49-F238E27FC236}">
                <a16:creationId xmlns:a16="http://schemas.microsoft.com/office/drawing/2014/main" id="{366734F9-34CC-DE61-8E26-070FECB588A4}"/>
              </a:ext>
            </a:extLst>
          </p:cNvPr>
          <p:cNvPicPr>
            <a:picLocks noChangeAspect="1"/>
          </p:cNvPicPr>
          <p:nvPr/>
        </p:nvPicPr>
        <p:blipFill>
          <a:blip r:embed="rId5"/>
          <a:stretch>
            <a:fillRect/>
          </a:stretch>
        </p:blipFill>
        <p:spPr>
          <a:xfrm>
            <a:off x="91440" y="3510201"/>
            <a:ext cx="4351880" cy="3154759"/>
          </a:xfrm>
          <a:prstGeom prst="rect">
            <a:avLst/>
          </a:prstGeom>
        </p:spPr>
      </p:pic>
      <p:pic>
        <p:nvPicPr>
          <p:cNvPr id="9" name="Picture 8">
            <a:extLst>
              <a:ext uri="{FF2B5EF4-FFF2-40B4-BE49-F238E27FC236}">
                <a16:creationId xmlns:a16="http://schemas.microsoft.com/office/drawing/2014/main" id="{7058E696-E181-13AB-1659-4CA25EF6AE73}"/>
              </a:ext>
            </a:extLst>
          </p:cNvPr>
          <p:cNvPicPr>
            <a:picLocks noChangeAspect="1"/>
          </p:cNvPicPr>
          <p:nvPr/>
        </p:nvPicPr>
        <p:blipFill>
          <a:blip r:embed="rId6"/>
          <a:stretch>
            <a:fillRect/>
          </a:stretch>
        </p:blipFill>
        <p:spPr>
          <a:xfrm>
            <a:off x="4700680" y="3510201"/>
            <a:ext cx="4351880" cy="31547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3200"/>
              <a:buNone/>
            </a:pPr>
            <a:endParaRPr/>
          </a:p>
          <a:p>
            <a:pPr marL="0" lvl="0" indent="0" algn="ctr" rtl="0">
              <a:spcBef>
                <a:spcPts val="640"/>
              </a:spcBef>
              <a:spcAft>
                <a:spcPts val="0"/>
              </a:spcAft>
              <a:buClr>
                <a:schemeClr val="dk1"/>
              </a:buClr>
              <a:buSzPts val="3200"/>
              <a:buNone/>
            </a:pPr>
            <a:endParaRPr/>
          </a:p>
          <a:p>
            <a:pPr marL="0" lvl="0" indent="0" algn="ctr" rtl="0">
              <a:spcBef>
                <a:spcPts val="640"/>
              </a:spcBef>
              <a:spcAft>
                <a:spcPts val="0"/>
              </a:spcAft>
              <a:buClr>
                <a:schemeClr val="dk1"/>
              </a:buClr>
              <a:buSzPts val="3200"/>
              <a:buNone/>
            </a:pPr>
            <a:endParaRPr/>
          </a:p>
          <a:p>
            <a:pPr marL="0" lvl="0" indent="0" algn="ctr" rtl="0">
              <a:spcBef>
                <a:spcPts val="640"/>
              </a:spcBef>
              <a:spcAft>
                <a:spcPts val="0"/>
              </a:spcAft>
              <a:buClr>
                <a:schemeClr val="dk1"/>
              </a:buClr>
              <a:buSzPts val="3200"/>
              <a:buNone/>
            </a:pPr>
            <a:r>
              <a:rPr lang="en-US"/>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702</Words>
  <Application>Microsoft Office PowerPoint</Application>
  <PresentationFormat>On-screen Show (4:3)</PresentationFormat>
  <Paragraphs>39</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Project Review-4 (Final Review)</vt:lpstr>
      <vt:lpstr>Introduction</vt:lpstr>
      <vt:lpstr>Accuracy of results</vt:lpstr>
      <vt:lpstr>Technical Competence</vt:lpstr>
      <vt:lpstr>Innovative &amp; Suitable Features</vt:lpstr>
      <vt:lpstr>Utility to Society</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Sree Lakshmi P</dc:creator>
  <cp:lastModifiedBy>jahnavi boyapati</cp:lastModifiedBy>
  <cp:revision>1</cp:revision>
  <dcterms:created xsi:type="dcterms:W3CDTF">2013-01-27T09:14:16Z</dcterms:created>
  <dcterms:modified xsi:type="dcterms:W3CDTF">2025-11-14T08:48:42Z</dcterms:modified>
</cp:coreProperties>
</file>